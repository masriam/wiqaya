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75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Wiqaya, Arabic for 'protection': an open-source food-label checker for families in Jordan, built for Hack Day Amman, theme Digital Health &amp; Wellness.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more than 1 in 10 Jordanian schoolchildren has a food allergy. Imported snacks carry Italian, Turkish or German labels under an Arabic sticker that can drop a 'may contain' line, and the person buying is often a grandparent. Solution: scan the barcode or photograph the label; Gemma 4 reads it in any language and the phone checks it against each child's allergies. Impact: parents, grandparents, schools and restaurants, with no child data leaving the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than 1 in 10 Jordanian schoolchildren has a food allergy (11.5% of 1,629 children, 2025 study); about 1 in 124 in Irbid screened positive for celiac disease. On imported food, the Arabic sticker can leave out the original's 'may contain' line. And allergens hide behind names: malt extract is gluten, whey is milk, tahini is sesame, jameed is milk.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scan: the phone reads the barcode, or takes a photo of the ingredients and the Arabic sticker. Gemma 4 reads the label in any language and returns structured JSON. Code double-checks the reading: a second reading must agree, and an edge check catches cut-off lists. Then the phone decides for each child: red, amber or green, quoting the label. The AI never learns who is allergic to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demo video (68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Children join on their own phone with a QR code and pick their allergies; the parent checks them. Eating out: a photo of a menu, sorted for each child into good to ask for, ask the staff first, and avoid. Emergency: one tap calls 911, with the doctor's plan for paramedics in Arabic and English. And the whole app works in Arabic, right to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parts. The family's phones keep every profile and make every decision. A small open-source server cleans photos, asks Gemma 4 for the ingredient list, double-checks the answer and sends it back: it never receives a name or an allergy. Gemma 4 runs locally on Ollama. Open Food Facts answers barcodes, and web search helps Gemma research unknown ingredients. Family messages travel end-to-end encrypted through a relay that can't read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language model can be confidently wrong, so it never makes the safety call: Gemma turns pictures into text, tested code on the phone decides, and Gemma's output can only add caution. Benchmark: 30 synthetic labels in six languages, 78 of 78 allergens flagged, no false greens. On 24 real photos from a shop, every allergen on the pack was flagged, and photos with no ingredient list are never green. Privacy: the AI never sees a child, profiles are encrypted on the phone, family messages are end-to-end encrypted, no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Everything is open source: github.com/MasriAm/Wiqaya.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4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ng\AppData\Local\Temp\claude\G--Qaqya-Wiqaya\b4718729-0996-47fc-8e2c-a882c4cb9920\scratchpad\deck\img\corner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47665" cy="3523183"/>
          </a:xfrm>
          <a:prstGeom prst="rect">
            <a:avLst/>
          </a:prstGeom>
        </p:spPr>
      </p:pic>
      <p:pic>
        <p:nvPicPr>
          <p:cNvPr id="3" name="Image 1" descr="C:\Users\eng\AppData\Local\Temp\claude\G--Qaqya-Wiqaya\b4718729-0996-47fc-8e2c-a882c4cb9920\scratchpad\deck\img\jo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56" y="54864"/>
            <a:ext cx="1399032" cy="452628"/>
          </a:xfrm>
          <a:prstGeom prst="rect">
            <a:avLst/>
          </a:prstGeom>
        </p:spPr>
      </p:pic>
      <p:pic>
        <p:nvPicPr>
          <p:cNvPr id="4" name="Image 2" descr="C:\Users\eng\AppData\Local\Temp\claude\G--Qaqya-Wiqaya\b4718729-0996-47fc-8e2c-a882c4cb9920\scratchpad\deck\img\ml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428232"/>
            <a:ext cx="822960" cy="3931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4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ng\AppData\Local\Temp\claude\G--Qaqya-Wiqaya\b4718729-0996-47fc-8e2c-a882c4cb9920\scratchpad\deck\img\corner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24735" cy="1431036"/>
          </a:xfrm>
          <a:prstGeom prst="rect">
            <a:avLst/>
          </a:prstGeom>
        </p:spPr>
      </p:pic>
      <p:pic>
        <p:nvPicPr>
          <p:cNvPr id="3" name="Image 1" descr="C:\Users\eng\AppData\Local\Temp\claude\G--Qaqya-Wiqaya\b4718729-0996-47fc-8e2c-a882c4cb9920\scratchpad\deck\img\jo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56" y="54864"/>
            <a:ext cx="1399032" cy="452628"/>
          </a:xfrm>
          <a:prstGeom prst="rect">
            <a:avLst/>
          </a:prstGeom>
        </p:spPr>
      </p:pic>
      <p:pic>
        <p:nvPicPr>
          <p:cNvPr id="4" name="Image 2" descr="C:\Users\eng\AppData\Local\Temp\claude\G--Qaqya-Wiqaya\b4718729-0996-47fc-8e2c-a882c4cb9920\scratchpad\deck\img\ml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428232"/>
            <a:ext cx="822960" cy="39319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33172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D10A0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Wiqaya  وقاية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969264" y="37673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432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By </a:t>
            </a:r>
            <a:r>
              <a:rPr lang="en-US" sz="2000" b="1">
                <a:solidFill>
                  <a:srgbClr val="E8432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Team Cursors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43891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a food label. Know if it's safe for each child.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4892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Cursors · Yousef Al Masri -Laith Al Ardah – Mustafa Al Shammari 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53949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E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Digital Health &amp; Wellness</a:t>
            </a:r>
            <a:endParaRPr lang="en-US" sz="2400" dirty="0"/>
          </a:p>
        </p:txBody>
      </p:sp>
      <p:pic>
        <p:nvPicPr>
          <p:cNvPr id="7" name="Wiqaya result: Nutella is not suitable for Sara 1" descr="Wiqaya result: Nutella is not suitable for Sa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77240"/>
            <a:ext cx="2752234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xel 2"/>
          <p:cNvSpPr/>
          <p:nvPr/>
        </p:nvSpPr>
        <p:spPr>
          <a:xfrm>
            <a:off x="914400" y="1243584"/>
            <a:ext cx="155448" cy="155448"/>
          </a:xfrm>
          <a:prstGeom prst="rect">
            <a:avLst/>
          </a:prstGeom>
          <a:solidFill>
            <a:srgbClr val="F5B829"/>
          </a:solidFill>
          <a:ln w="12700">
            <a:solidFill>
              <a:srgbClr val="F5B8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ixel 3"/>
          <p:cNvSpPr/>
          <p:nvPr/>
        </p:nvSpPr>
        <p:spPr>
          <a:xfrm>
            <a:off x="1069848" y="1399032"/>
            <a:ext cx="155448" cy="155448"/>
          </a:xfrm>
          <a:prstGeom prst="rect">
            <a:avLst/>
          </a:prstGeom>
          <a:solidFill>
            <a:srgbClr val="E87C76"/>
          </a:solidFill>
          <a:ln w="12700">
            <a:solidFill>
              <a:srgbClr val="E87C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ixel 4"/>
          <p:cNvSpPr/>
          <p:nvPr/>
        </p:nvSpPr>
        <p:spPr>
          <a:xfrm>
            <a:off x="1225296" y="1554480"/>
            <a:ext cx="155448" cy="155448"/>
          </a:xfrm>
          <a:prstGeom prst="rect">
            <a:avLst/>
          </a:prstGeom>
          <a:solidFill>
            <a:srgbClr val="6F9BD6"/>
          </a:solidFill>
          <a:ln w="12700">
            <a:solidFill>
              <a:srgbClr val="6F9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1554480" y="1097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Digital Health &amp; Wellness</a:t>
            </a:r>
            <a:endParaRPr lang="en-US" sz="3600" dirty="0"/>
          </a:p>
        </p:txBody>
      </p:sp>
      <p:sp>
        <p:nvSpPr>
          <p:cNvPr id="6" name="Card 5"/>
          <p:cNvSpPr/>
          <p:nvPr/>
        </p:nvSpPr>
        <p:spPr>
          <a:xfrm>
            <a:off x="1143000" y="2377440"/>
            <a:ext cx="2834640" cy="3383280"/>
          </a:xfrm>
          <a:prstGeom prst="rect">
            <a:avLst/>
          </a:prstGeom>
          <a:solidFill>
            <a:srgbClr val="F8F8F4"/>
          </a:solidFill>
          <a:ln w="12700">
            <a:solidFill>
              <a:srgbClr val="F8F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t_alert 6" descr="C:\Users\eng\AppData\Local\Temp\claude\G--Qaqya-Wiqaya\b4718729-0996-47fc-8e2c-a882c4cb9920\scratchpad\deck\img\t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69748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4526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Foreign labels hide allergens</a:t>
            </a:r>
            <a:endParaRPr lang="en-US" sz="1700" dirty="0"/>
          </a:p>
        </p:txBody>
      </p:sp>
      <p:sp>
        <p:nvSpPr>
          <p:cNvPr id="10" name="Arrow 7"/>
          <p:cNvSpPr/>
          <p:nvPr/>
        </p:nvSpPr>
        <p:spPr>
          <a:xfrm>
            <a:off x="4069080" y="4069080"/>
            <a:ext cx="594360" cy="0"/>
          </a:xfrm>
          <a:prstGeom prst="line">
            <a:avLst/>
          </a:prstGeom>
          <a:noFill/>
          <a:ln w="31750">
            <a:solidFill>
              <a:srgbClr val="3D5E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8"/>
          <p:cNvSpPr/>
          <p:nvPr/>
        </p:nvSpPr>
        <p:spPr>
          <a:xfrm>
            <a:off x="4754880" y="2377440"/>
            <a:ext cx="2834640" cy="3383280"/>
          </a:xfrm>
          <a:prstGeom prst="rect">
            <a:avLst/>
          </a:prstGeom>
          <a:solidFill>
            <a:srgbClr val="F8F8F4"/>
          </a:solidFill>
          <a:ln w="12700">
            <a:solidFill>
              <a:srgbClr val="F8F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t_scan 9" descr="C:\Users\eng\AppData\Local\Temp\claude\G--Qaqya-Wiqaya\b4718729-0996-47fc-8e2c-a882c4cb9920\scratchpad\deck\img\t_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697480"/>
            <a:ext cx="1097280" cy="10972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5488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4526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Scan, and know per child</a:t>
            </a:r>
            <a:endParaRPr lang="en-US" sz="1700" dirty="0"/>
          </a:p>
        </p:txBody>
      </p:sp>
      <p:sp>
        <p:nvSpPr>
          <p:cNvPr id="15" name="Arrow 10"/>
          <p:cNvSpPr/>
          <p:nvPr/>
        </p:nvSpPr>
        <p:spPr>
          <a:xfrm>
            <a:off x="7680960" y="4069080"/>
            <a:ext cx="594360" cy="0"/>
          </a:xfrm>
          <a:prstGeom prst="line">
            <a:avLst/>
          </a:prstGeom>
          <a:noFill/>
          <a:ln w="31750">
            <a:solidFill>
              <a:srgbClr val="3D5E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Card 11"/>
          <p:cNvSpPr/>
          <p:nvPr/>
        </p:nvSpPr>
        <p:spPr>
          <a:xfrm>
            <a:off x="8366760" y="2377440"/>
            <a:ext cx="2834640" cy="3383280"/>
          </a:xfrm>
          <a:prstGeom prst="rect">
            <a:avLst/>
          </a:prstGeom>
          <a:solidFill>
            <a:srgbClr val="F8F8F4"/>
          </a:solidFill>
          <a:ln w="12700">
            <a:solidFill>
              <a:srgbClr val="F8F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t_family 12" descr="C:\Users\eng\AppData\Local\Temp\claude\G--Qaqya-Wiqaya\b4718729-0996-47fc-8e2c-a882c4cb9920\scratchpad\deck\img\t_fami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2697480"/>
            <a:ext cx="1097280" cy="10972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Target Impact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549640" y="4526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Every caregiver protected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xel 13"/>
          <p:cNvSpPr/>
          <p:nvPr/>
        </p:nvSpPr>
        <p:spPr>
          <a:xfrm>
            <a:off x="914400" y="1243584"/>
            <a:ext cx="155448" cy="155448"/>
          </a:xfrm>
          <a:prstGeom prst="rect">
            <a:avLst/>
          </a:prstGeom>
          <a:solidFill>
            <a:srgbClr val="F5B829"/>
          </a:solidFill>
          <a:ln w="12700">
            <a:solidFill>
              <a:srgbClr val="F5B8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ixel 14"/>
          <p:cNvSpPr/>
          <p:nvPr/>
        </p:nvSpPr>
        <p:spPr>
          <a:xfrm>
            <a:off x="1069848" y="1399032"/>
            <a:ext cx="155448" cy="155448"/>
          </a:xfrm>
          <a:prstGeom prst="rect">
            <a:avLst/>
          </a:prstGeom>
          <a:solidFill>
            <a:srgbClr val="E87C76"/>
          </a:solidFill>
          <a:ln w="12700">
            <a:solidFill>
              <a:srgbClr val="E87C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ixel 15"/>
          <p:cNvSpPr/>
          <p:nvPr/>
        </p:nvSpPr>
        <p:spPr>
          <a:xfrm>
            <a:off x="1225296" y="1554480"/>
            <a:ext cx="155448" cy="155448"/>
          </a:xfrm>
          <a:prstGeom prst="rect">
            <a:avLst/>
          </a:prstGeom>
          <a:solidFill>
            <a:srgbClr val="6F9BD6"/>
          </a:solidFill>
          <a:ln w="12700">
            <a:solidFill>
              <a:srgbClr val="6F9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1554480" y="1097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Why it matters</a:t>
            </a:r>
            <a:endParaRPr lang="en-US" sz="3600" dirty="0"/>
          </a:p>
        </p:txBody>
      </p:sp>
      <p:pic>
        <p:nvPicPr>
          <p:cNvPr id="6" name="Ten children, one with an allergy 16" descr="Ten children, one with an aller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31720"/>
            <a:ext cx="4206240" cy="1801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D10A0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in 10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5166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Jordanian schoolchildren has a food allergy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240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Two labels, one snack</a:t>
            </a:r>
            <a:endParaRPr lang="en-US" sz="1800" dirty="0"/>
          </a:p>
        </p:txBody>
      </p:sp>
      <p:sp>
        <p:nvSpPr>
          <p:cNvPr id="10" name="Card 17"/>
          <p:cNvSpPr/>
          <p:nvPr/>
        </p:nvSpPr>
        <p:spPr>
          <a:xfrm>
            <a:off x="6035040" y="2743200"/>
            <a:ext cx="2468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21792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ORIGINAL · ITALIAN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200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farina di frumento, zucchero, olio di girasole…</a:t>
            </a:r>
            <a:endParaRPr lang="en-US" sz="1300" dirty="0"/>
          </a:p>
        </p:txBody>
      </p:sp>
      <p:sp>
        <p:nvSpPr>
          <p:cNvPr id="13" name="Card 18"/>
          <p:cNvSpPr/>
          <p:nvPr/>
        </p:nvSpPr>
        <p:spPr>
          <a:xfrm>
            <a:off x="6144768" y="4160520"/>
            <a:ext cx="2249424" cy="640080"/>
          </a:xfrm>
          <a:prstGeom prst="rect">
            <a:avLst/>
          </a:prstGeom>
          <a:solidFill>
            <a:srgbClr val="FDECEC"/>
          </a:solidFill>
          <a:ln w="12700">
            <a:solidFill>
              <a:srgbClr val="F3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236208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Può contenere frutta a guscio</a:t>
            </a:r>
            <a:endParaRPr lang="en-US" sz="1200" dirty="0"/>
          </a:p>
        </p:txBody>
      </p:sp>
      <p:sp>
        <p:nvSpPr>
          <p:cNvPr id="15" name="Arrow 19"/>
          <p:cNvSpPr/>
          <p:nvPr/>
        </p:nvSpPr>
        <p:spPr>
          <a:xfrm>
            <a:off x="8595360" y="3840480"/>
            <a:ext cx="411480" cy="0"/>
          </a:xfrm>
          <a:prstGeom prst="line">
            <a:avLst/>
          </a:prstGeom>
          <a:noFill/>
          <a:ln w="31750">
            <a:solidFill>
              <a:srgbClr val="3D5E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Card 20"/>
          <p:cNvSpPr/>
          <p:nvPr/>
        </p:nvSpPr>
        <p:spPr>
          <a:xfrm>
            <a:off x="9098280" y="2743200"/>
            <a:ext cx="2468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28116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ARABIC STICKER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281160" y="3200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دقيق القمح، سكر، زيت دوار الشمس…</a:t>
            </a:r>
            <a:endParaRPr lang="en-US" sz="1400" dirty="0"/>
          </a:p>
        </p:txBody>
      </p:sp>
      <p:sp>
        <p:nvSpPr>
          <p:cNvPr id="19" name="Missing line"/>
          <p:cNvSpPr/>
          <p:nvPr/>
        </p:nvSpPr>
        <p:spPr>
          <a:xfrm>
            <a:off x="9208008" y="4160520"/>
            <a:ext cx="224942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281160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"may contain nuts" missing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Hidden names</a:t>
            </a:r>
            <a:endParaRPr lang="en-US" sz="1600" dirty="0"/>
          </a:p>
        </p:txBody>
      </p:sp>
      <p:sp>
        <p:nvSpPr>
          <p:cNvPr id="22" name="Card 21"/>
          <p:cNvSpPr/>
          <p:nvPr/>
        </p:nvSpPr>
        <p:spPr>
          <a:xfrm>
            <a:off x="6035040" y="566928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126480" y="5669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malt</a:t>
            </a:r>
            <a:endParaRPr lang="en-US" sz="1300" dirty="0"/>
          </a:p>
        </p:txBody>
      </p:sp>
      <p:pic>
        <p:nvPicPr>
          <p:cNvPr id="24" name="e_wheat 22" descr="C:\Users\eng\AppData\Local\Temp\claude\G--Qaqya-Wiqaya\b4718729-0996-47fc-8e2c-a882c4cb9920\scratchpad\deck\img\e_wh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5715000"/>
            <a:ext cx="411480" cy="411480"/>
          </a:xfrm>
          <a:prstGeom prst="rect">
            <a:avLst/>
          </a:prstGeom>
        </p:spPr>
      </p:pic>
      <p:sp>
        <p:nvSpPr>
          <p:cNvPr id="25" name="Card 23"/>
          <p:cNvSpPr/>
          <p:nvPr/>
        </p:nvSpPr>
        <p:spPr>
          <a:xfrm>
            <a:off x="7360920" y="566928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7452360" y="5669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whey</a:t>
            </a:r>
            <a:endParaRPr lang="en-US" sz="1300" dirty="0"/>
          </a:p>
        </p:txBody>
      </p:sp>
      <p:pic>
        <p:nvPicPr>
          <p:cNvPr id="27" name="e_milk 24" descr="C:\Users\eng\AppData\Local\Temp\claude\G--Qaqya-Wiqaya\b4718729-0996-47fc-8e2c-a882c4cb9920\scratchpad\deck\img\e_mil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5715000"/>
            <a:ext cx="411480" cy="411480"/>
          </a:xfrm>
          <a:prstGeom prst="rect">
            <a:avLst/>
          </a:prstGeom>
        </p:spPr>
      </p:pic>
      <p:sp>
        <p:nvSpPr>
          <p:cNvPr id="28" name="Card 25"/>
          <p:cNvSpPr/>
          <p:nvPr/>
        </p:nvSpPr>
        <p:spPr>
          <a:xfrm>
            <a:off x="8686800" y="566928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8778240" y="5669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tahini</a:t>
            </a:r>
            <a:endParaRPr lang="en-US" sz="1300" dirty="0"/>
          </a:p>
        </p:txBody>
      </p:sp>
      <p:pic>
        <p:nvPicPr>
          <p:cNvPr id="30" name="e_sesame 26" descr="C:\Users\eng\AppData\Local\Temp\claude\G--Qaqya-Wiqaya\b4718729-0996-47fc-8e2c-a882c4cb9920\scratchpad\deck\img\e_sesa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5715000"/>
            <a:ext cx="411480" cy="411480"/>
          </a:xfrm>
          <a:prstGeom prst="rect">
            <a:avLst/>
          </a:prstGeom>
        </p:spPr>
      </p:pic>
      <p:sp>
        <p:nvSpPr>
          <p:cNvPr id="31" name="Card 27"/>
          <p:cNvSpPr/>
          <p:nvPr/>
        </p:nvSpPr>
        <p:spPr>
          <a:xfrm>
            <a:off x="10012680" y="566928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10104120" y="5669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jameed</a:t>
            </a:r>
            <a:endParaRPr lang="en-US" sz="1300" dirty="0"/>
          </a:p>
        </p:txBody>
      </p:sp>
      <p:pic>
        <p:nvPicPr>
          <p:cNvPr id="33" name="e_milk 28" descr="C:\Users\eng\AppData\Local\Temp\claude\G--Qaqya-Wiqaya\b4718729-0996-47fc-8e2c-a882c4cb9920\scratchpad\deck\img\e_mil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5715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xel 29"/>
          <p:cNvSpPr/>
          <p:nvPr/>
        </p:nvSpPr>
        <p:spPr>
          <a:xfrm>
            <a:off x="914400" y="1243584"/>
            <a:ext cx="155448" cy="155448"/>
          </a:xfrm>
          <a:prstGeom prst="rect">
            <a:avLst/>
          </a:prstGeom>
          <a:solidFill>
            <a:srgbClr val="F5B829"/>
          </a:solidFill>
          <a:ln w="12700">
            <a:solidFill>
              <a:srgbClr val="F5B8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ixel 30"/>
          <p:cNvSpPr/>
          <p:nvPr/>
        </p:nvSpPr>
        <p:spPr>
          <a:xfrm>
            <a:off x="1069848" y="1399032"/>
            <a:ext cx="155448" cy="155448"/>
          </a:xfrm>
          <a:prstGeom prst="rect">
            <a:avLst/>
          </a:prstGeom>
          <a:solidFill>
            <a:srgbClr val="E87C76"/>
          </a:solidFill>
          <a:ln w="12700">
            <a:solidFill>
              <a:srgbClr val="E87C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ixel 31"/>
          <p:cNvSpPr/>
          <p:nvPr/>
        </p:nvSpPr>
        <p:spPr>
          <a:xfrm>
            <a:off x="1225296" y="1554480"/>
            <a:ext cx="155448" cy="155448"/>
          </a:xfrm>
          <a:prstGeom prst="rect">
            <a:avLst/>
          </a:prstGeom>
          <a:solidFill>
            <a:srgbClr val="6F9BD6"/>
          </a:solidFill>
          <a:ln w="12700">
            <a:solidFill>
              <a:srgbClr val="6F9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1554480" y="1097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0078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From a photo to a verdict for each child</a:t>
            </a:r>
            <a:endParaRPr lang="en-US" sz="1600" dirty="0"/>
          </a:p>
        </p:txBody>
      </p:sp>
      <p:pic>
        <p:nvPicPr>
          <p:cNvPr id="7" name="t_camera 32" descr="C:\Users\eng\AppData\Local\Temp\claude\G--Qaqya-Wiqaya\b4718729-0996-47fc-8e2c-a882c4cb9920\scratchpad\deck\img\t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514600"/>
            <a:ext cx="914400" cy="914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barcode or photo</a:t>
            </a:r>
            <a:endParaRPr lang="en-US" sz="1300" dirty="0"/>
          </a:p>
        </p:txBody>
      </p:sp>
      <p:sp>
        <p:nvSpPr>
          <p:cNvPr id="10" name="Arrow 33"/>
          <p:cNvSpPr/>
          <p:nvPr/>
        </p:nvSpPr>
        <p:spPr>
          <a:xfrm>
            <a:off x="2468880" y="2971800"/>
            <a:ext cx="411480" cy="0"/>
          </a:xfrm>
          <a:prstGeom prst="line">
            <a:avLst/>
          </a:prstGeom>
          <a:noFill/>
          <a:ln w="31750">
            <a:solidFill>
              <a:srgbClr val="1F3A3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t_spark 34" descr="C:\Users\eng\AppData\Local\Temp\claude\G--Qaqya-Wiqaya\b4718729-0996-47fc-8e2c-a882c4cb9920\scratchpad\deck\img\t_sp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51460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3464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Gemma 4 reads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83464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any language → JSON</a:t>
            </a:r>
            <a:endParaRPr lang="en-US" sz="1300" dirty="0"/>
          </a:p>
        </p:txBody>
      </p:sp>
      <p:sp>
        <p:nvSpPr>
          <p:cNvPr id="14" name="Arrow 35"/>
          <p:cNvSpPr/>
          <p:nvPr/>
        </p:nvSpPr>
        <p:spPr>
          <a:xfrm>
            <a:off x="4389120" y="2971800"/>
            <a:ext cx="411480" cy="0"/>
          </a:xfrm>
          <a:prstGeom prst="line">
            <a:avLst/>
          </a:prstGeom>
          <a:noFill/>
          <a:ln w="31750">
            <a:solidFill>
              <a:srgbClr val="1F3A3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t_check 36" descr="C:\Users\eng\AppData\Local\Temp\claude\G--Qaqya-Wiqaya\b4718729-0996-47fc-8e2c-a882c4cb9920\scratchpad\deck\img\t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51460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Code checks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second reading, edges</a:t>
            </a:r>
            <a:endParaRPr lang="en-US" sz="1300" dirty="0"/>
          </a:p>
        </p:txBody>
      </p:sp>
      <p:sp>
        <p:nvSpPr>
          <p:cNvPr id="18" name="Arrow 37"/>
          <p:cNvSpPr/>
          <p:nvPr/>
        </p:nvSpPr>
        <p:spPr>
          <a:xfrm>
            <a:off x="6309360" y="2971800"/>
            <a:ext cx="411480" cy="0"/>
          </a:xfrm>
          <a:prstGeom prst="line">
            <a:avLst/>
          </a:prstGeom>
          <a:noFill/>
          <a:ln w="31750">
            <a:solidFill>
              <a:srgbClr val="1F3A3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t_family 38" descr="C:\Users\eng\AppData\Local\Temp\claude\G--Qaqya-Wiqaya\b4718729-0996-47fc-8e2c-a882c4cb9920\scratchpad\deck\img\t_fami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2514600"/>
            <a:ext cx="914400" cy="9144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67512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Phone decides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67512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per child, on device</a:t>
            </a:r>
            <a:endParaRPr lang="en-US" sz="1300" dirty="0"/>
          </a:p>
        </p:txBody>
      </p:sp>
      <p:sp>
        <p:nvSpPr>
          <p:cNvPr id="22" name="Arrow 39"/>
          <p:cNvSpPr/>
          <p:nvPr/>
        </p:nvSpPr>
        <p:spPr>
          <a:xfrm>
            <a:off x="8595360" y="2971800"/>
            <a:ext cx="457200" cy="0"/>
          </a:xfrm>
          <a:prstGeom prst="line">
            <a:avLst/>
          </a:prstGeom>
          <a:noFill/>
          <a:ln w="31750">
            <a:solidFill>
              <a:srgbClr val="1F3A3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Pill 40"/>
          <p:cNvSpPr/>
          <p:nvPr/>
        </p:nvSpPr>
        <p:spPr>
          <a:xfrm>
            <a:off x="9189720" y="237744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9189720" y="23774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Not suitable</a:t>
            </a:r>
            <a:endParaRPr lang="en-US" sz="1500" dirty="0"/>
          </a:p>
        </p:txBody>
      </p:sp>
      <p:sp>
        <p:nvSpPr>
          <p:cNvPr id="25" name="Pill 41"/>
          <p:cNvSpPr/>
          <p:nvPr/>
        </p:nvSpPr>
        <p:spPr>
          <a:xfrm>
            <a:off x="9189720" y="294436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9189720" y="29443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first</a:t>
            </a:r>
            <a:endParaRPr lang="en-US" sz="1500" dirty="0"/>
          </a:p>
        </p:txBody>
      </p:sp>
      <p:sp>
        <p:nvSpPr>
          <p:cNvPr id="27" name="Pill 42"/>
          <p:cNvSpPr/>
          <p:nvPr/>
        </p:nvSpPr>
        <p:spPr>
          <a:xfrm>
            <a:off x="9189720" y="3511296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9189720" y="35112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 problem found</a:t>
            </a:r>
            <a:endParaRPr lang="en-US" sz="1500" dirty="0"/>
          </a:p>
        </p:txBody>
      </p:sp>
      <p:sp>
        <p:nvSpPr>
          <p:cNvPr id="29" name="Card 43"/>
          <p:cNvSpPr/>
          <p:nvPr/>
        </p:nvSpPr>
        <p:spPr>
          <a:xfrm>
            <a:off x="1188720" y="4800600"/>
            <a:ext cx="9829800" cy="1051560"/>
          </a:xfrm>
          <a:prstGeom prst="rect">
            <a:avLst/>
          </a:prstGeom>
          <a:solidFill>
            <a:srgbClr val="F8F8F4"/>
          </a:solidFill>
          <a:ln w="12700">
            <a:solidFill>
              <a:srgbClr val="F8F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t_lock 44" descr="C:\Users\eng\AppData\Local\Temp\claude\G--Qaqya-Wiqaya\b4718729-0996-47fc-8e2c-a882c4cb9920\scratchpad\deck\img\t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983480"/>
            <a:ext cx="685800" cy="6858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240280" y="4919472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AI never sees the child.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Only the label goes to Gemma; allergies stay on the phone.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xel 45"/>
          <p:cNvSpPr/>
          <p:nvPr/>
        </p:nvSpPr>
        <p:spPr>
          <a:xfrm>
            <a:off x="914400" y="1243584"/>
            <a:ext cx="155448" cy="155448"/>
          </a:xfrm>
          <a:prstGeom prst="rect">
            <a:avLst/>
          </a:prstGeom>
          <a:solidFill>
            <a:srgbClr val="F5B829"/>
          </a:solidFill>
          <a:ln w="12700">
            <a:solidFill>
              <a:srgbClr val="F5B8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ixel 46"/>
          <p:cNvSpPr/>
          <p:nvPr/>
        </p:nvSpPr>
        <p:spPr>
          <a:xfrm>
            <a:off x="1069848" y="1399032"/>
            <a:ext cx="155448" cy="155448"/>
          </a:xfrm>
          <a:prstGeom prst="rect">
            <a:avLst/>
          </a:prstGeom>
          <a:solidFill>
            <a:srgbClr val="E87C76"/>
          </a:solidFill>
          <a:ln w="12700">
            <a:solidFill>
              <a:srgbClr val="E87C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ixel 47"/>
          <p:cNvSpPr/>
          <p:nvPr/>
        </p:nvSpPr>
        <p:spPr>
          <a:xfrm>
            <a:off x="1225296" y="1554480"/>
            <a:ext cx="155448" cy="155448"/>
          </a:xfrm>
          <a:prstGeom prst="rect">
            <a:avLst/>
          </a:prstGeom>
          <a:solidFill>
            <a:srgbClr val="6F9BD6"/>
          </a:solidFill>
          <a:ln w="12700">
            <a:solidFill>
              <a:srgbClr val="6F9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1554480" y="1097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See it in action</a:t>
            </a:r>
            <a:endParaRPr lang="en-US" sz="3600" dirty="0"/>
          </a:p>
        </p:txBody>
      </p:sp>
      <p:pic>
        <p:nvPicPr>
          <p:cNvPr id="6" name="Demo 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26768" y="1965960"/>
            <a:ext cx="8138160" cy="4577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xel 48"/>
          <p:cNvSpPr/>
          <p:nvPr/>
        </p:nvSpPr>
        <p:spPr>
          <a:xfrm>
            <a:off x="914400" y="1243584"/>
            <a:ext cx="155448" cy="155448"/>
          </a:xfrm>
          <a:prstGeom prst="rect">
            <a:avLst/>
          </a:prstGeom>
          <a:solidFill>
            <a:srgbClr val="F5B829"/>
          </a:solidFill>
          <a:ln w="12700">
            <a:solidFill>
              <a:srgbClr val="F5B8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ixel 49"/>
          <p:cNvSpPr/>
          <p:nvPr/>
        </p:nvSpPr>
        <p:spPr>
          <a:xfrm>
            <a:off x="1069848" y="1399032"/>
            <a:ext cx="155448" cy="155448"/>
          </a:xfrm>
          <a:prstGeom prst="rect">
            <a:avLst/>
          </a:prstGeom>
          <a:solidFill>
            <a:srgbClr val="E87C76"/>
          </a:solidFill>
          <a:ln w="12700">
            <a:solidFill>
              <a:srgbClr val="E87C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ixel 50"/>
          <p:cNvSpPr/>
          <p:nvPr/>
        </p:nvSpPr>
        <p:spPr>
          <a:xfrm>
            <a:off x="1225296" y="1554480"/>
            <a:ext cx="155448" cy="155448"/>
          </a:xfrm>
          <a:prstGeom prst="rect">
            <a:avLst/>
          </a:prstGeom>
          <a:solidFill>
            <a:srgbClr val="6F9BD6"/>
          </a:solidFill>
          <a:ln w="12700">
            <a:solidFill>
              <a:srgbClr val="6F9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1554480" y="1097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One app for the whole family</a:t>
            </a:r>
            <a:endParaRPr lang="en-US" sz="3600" dirty="0"/>
          </a:p>
        </p:txBody>
      </p:sp>
      <p:pic>
        <p:nvPicPr>
          <p:cNvPr id="6" name="Kids join by QR 51" descr="Kids join by Q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587" y="1874520"/>
            <a:ext cx="1972434" cy="3931920"/>
          </a:xfrm>
          <a:prstGeom prst="rect">
            <a:avLst/>
          </a:prstGeom>
        </p:spPr>
      </p:pic>
      <p:pic>
        <p:nvPicPr>
          <p:cNvPr id="7" name="t_qr 52" descr="C:\Users\eng\AppData\Local\Temp\claude\G--Qaqya-Wiqaya\b4718729-0996-47fc-8e2c-a882c4cb9920\scratchpad\deck\img\t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307" y="58978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49227" y="5897880"/>
            <a:ext cx="1515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Kids join by QR</a:t>
            </a:r>
            <a:endParaRPr lang="en-US" sz="1500" dirty="0"/>
          </a:p>
        </p:txBody>
      </p:sp>
      <p:pic>
        <p:nvPicPr>
          <p:cNvPr id="9" name="Eating out 53" descr="Eating o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9950" y="1874520"/>
            <a:ext cx="1972434" cy="3931920"/>
          </a:xfrm>
          <a:prstGeom prst="rect">
            <a:avLst/>
          </a:prstGeom>
        </p:spPr>
      </p:pic>
      <p:pic>
        <p:nvPicPr>
          <p:cNvPr id="10" name="t_menu 54" descr="C:\Users\eng\AppData\Local\Temp\claude\G--Qaqya-Wiqaya\b4718729-0996-47fc-8e2c-a882c4cb9920\scratchpad\deck\img\t_men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5670" y="5897880"/>
            <a:ext cx="411480" cy="4114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388590" y="5897880"/>
            <a:ext cx="1515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Eating out</a:t>
            </a:r>
            <a:endParaRPr lang="en-US" sz="1500" dirty="0"/>
          </a:p>
        </p:txBody>
      </p:sp>
      <p:pic>
        <p:nvPicPr>
          <p:cNvPr id="12" name="Emergency 55" descr="Emergenc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9312" y="1874520"/>
            <a:ext cx="1972434" cy="3931920"/>
          </a:xfrm>
          <a:prstGeom prst="rect">
            <a:avLst/>
          </a:prstGeom>
        </p:spPr>
      </p:pic>
      <p:pic>
        <p:nvPicPr>
          <p:cNvPr id="13" name="t_heart 56" descr="C:\Users\eng\AppData\Local\Temp\claude\G--Qaqya-Wiqaya\b4718729-0996-47fc-8e2c-a882c4cb9920\scratchpad\deck\img\t_he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5032" y="589788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927952" y="5897880"/>
            <a:ext cx="1515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Emergency</a:t>
            </a:r>
            <a:endParaRPr lang="en-US" sz="1500" dirty="0"/>
          </a:p>
        </p:txBody>
      </p:sp>
      <p:pic>
        <p:nvPicPr>
          <p:cNvPr id="15" name="Arabic + English 57" descr="Arabic + English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8674" y="1874520"/>
            <a:ext cx="1972434" cy="3931920"/>
          </a:xfrm>
          <a:prstGeom prst="rect">
            <a:avLst/>
          </a:prstGeom>
        </p:spPr>
      </p:pic>
      <p:pic>
        <p:nvPicPr>
          <p:cNvPr id="16" name="t_globe 58" descr="C:\Users\eng\AppData\Local\Temp\claude\G--Qaqya-Wiqaya\b4718729-0996-47fc-8e2c-a882c4cb9920\scratchpad\deck\img\t_glob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4394" y="5897880"/>
            <a:ext cx="411480" cy="411480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9467314" y="5897880"/>
            <a:ext cx="1515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Arabic + English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xel 80"/>
          <p:cNvSpPr/>
          <p:nvPr/>
        </p:nvSpPr>
        <p:spPr>
          <a:xfrm>
            <a:off x="914400" y="1243584"/>
            <a:ext cx="155448" cy="155448"/>
          </a:xfrm>
          <a:prstGeom prst="rect">
            <a:avLst/>
          </a:prstGeom>
          <a:solidFill>
            <a:srgbClr val="F5B829"/>
          </a:solidFill>
          <a:ln w="12700">
            <a:solidFill>
              <a:srgbClr val="F5B8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ixel 81"/>
          <p:cNvSpPr/>
          <p:nvPr/>
        </p:nvSpPr>
        <p:spPr>
          <a:xfrm>
            <a:off x="1069848" y="1399032"/>
            <a:ext cx="155448" cy="155448"/>
          </a:xfrm>
          <a:prstGeom prst="rect">
            <a:avLst/>
          </a:prstGeom>
          <a:solidFill>
            <a:srgbClr val="E87C76"/>
          </a:solidFill>
          <a:ln w="12700">
            <a:solidFill>
              <a:srgbClr val="E87C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ixel 82"/>
          <p:cNvSpPr/>
          <p:nvPr/>
        </p:nvSpPr>
        <p:spPr>
          <a:xfrm>
            <a:off x="1225296" y="1554480"/>
            <a:ext cx="155448" cy="155448"/>
          </a:xfrm>
          <a:prstGeom prst="rect">
            <a:avLst/>
          </a:prstGeom>
          <a:solidFill>
            <a:srgbClr val="6F9BD6"/>
          </a:solidFill>
          <a:ln w="12700">
            <a:solidFill>
              <a:srgbClr val="6F9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1554480" y="1097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How it fits together</a:t>
            </a:r>
            <a:endParaRPr lang="en-US" sz="3600" dirty="0"/>
          </a:p>
        </p:txBody>
      </p:sp>
      <p:sp>
        <p:nvSpPr>
          <p:cNvPr id="6" name="Family phones 83"/>
          <p:cNvSpPr/>
          <p:nvPr/>
        </p:nvSpPr>
        <p:spPr>
          <a:xfrm>
            <a:off x="777240" y="219456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E3F1EE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t_phone 84" descr="C:\Users\eng\AppData\Local\Temp\claude\G--Qaqya-Wiqaya\b4718729-0996-47fc-8e2c-a882c4cb9920\scratchpad\deck\img\t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95728"/>
            <a:ext cx="566928" cy="5669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377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Family phones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724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React 19 · TypeScript</a:t>
            </a:r>
            <a:endParaRPr lang="en-US" sz="1100" dirty="0"/>
          </a:p>
        </p:txBody>
      </p:sp>
      <p:sp>
        <p:nvSpPr>
          <p:cNvPr id="10" name="Card 85"/>
          <p:cNvSpPr/>
          <p:nvPr/>
        </p:nvSpPr>
        <p:spPr>
          <a:xfrm>
            <a:off x="1005840" y="324612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ot 86"/>
          <p:cNvSpPr/>
          <p:nvPr/>
        </p:nvSpPr>
        <p:spPr>
          <a:xfrm>
            <a:off x="1124712" y="3447288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37160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Allergen engine: decides</a:t>
            </a:r>
            <a:endParaRPr lang="en-US" sz="1300" dirty="0"/>
          </a:p>
        </p:txBody>
      </p:sp>
      <p:sp>
        <p:nvSpPr>
          <p:cNvPr id="13" name="Card 87"/>
          <p:cNvSpPr/>
          <p:nvPr/>
        </p:nvSpPr>
        <p:spPr>
          <a:xfrm>
            <a:off x="1005840" y="393192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ot 88"/>
          <p:cNvSpPr/>
          <p:nvPr/>
        </p:nvSpPr>
        <p:spPr>
          <a:xfrm>
            <a:off x="1124712" y="4133088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37160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Barcodes (zxing-wasm)</a:t>
            </a:r>
            <a:endParaRPr lang="en-US" sz="1300" dirty="0"/>
          </a:p>
        </p:txBody>
      </p:sp>
      <p:sp>
        <p:nvSpPr>
          <p:cNvPr id="16" name="Card 89"/>
          <p:cNvSpPr/>
          <p:nvPr/>
        </p:nvSpPr>
        <p:spPr>
          <a:xfrm>
            <a:off x="1005840" y="461772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Dot 90"/>
          <p:cNvSpPr/>
          <p:nvPr/>
        </p:nvSpPr>
        <p:spPr>
          <a:xfrm>
            <a:off x="1124712" y="4818888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37160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Encrypted profiles</a:t>
            </a:r>
            <a:endParaRPr lang="en-US" sz="1300" dirty="0"/>
          </a:p>
        </p:txBody>
      </p:sp>
      <p:sp>
        <p:nvSpPr>
          <p:cNvPr id="19" name="Card 91"/>
          <p:cNvSpPr/>
          <p:nvPr/>
        </p:nvSpPr>
        <p:spPr>
          <a:xfrm>
            <a:off x="1005840" y="530352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ot 92"/>
          <p:cNvSpPr/>
          <p:nvPr/>
        </p:nvSpPr>
        <p:spPr>
          <a:xfrm>
            <a:off x="1124712" y="5504688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1371600" y="5303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Signed by a parent</a:t>
            </a:r>
            <a:endParaRPr lang="en-US" sz="1300" dirty="0"/>
          </a:p>
        </p:txBody>
      </p:sp>
      <p:sp>
        <p:nvSpPr>
          <p:cNvPr id="22" name="Wiqaya server 93"/>
          <p:cNvSpPr/>
          <p:nvPr/>
        </p:nvSpPr>
        <p:spPr>
          <a:xfrm>
            <a:off x="4846320" y="2194560"/>
            <a:ext cx="3108960" cy="3977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3D5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t_server 94" descr="C:\Users\eng\AppData\Local\Temp\claude\G--Qaqya-Wiqaya\b4718729-0996-47fc-8e2c-a882c4cb9920\scratchpad\deck\img\t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395728"/>
            <a:ext cx="566928" cy="56692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760720" y="23774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Wiqaya server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5760720" y="2724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· FastAPI</a:t>
            </a:r>
            <a:endParaRPr lang="en-US" sz="1100" dirty="0"/>
          </a:p>
        </p:txBody>
      </p:sp>
      <p:sp>
        <p:nvSpPr>
          <p:cNvPr id="26" name="Card 95"/>
          <p:cNvSpPr/>
          <p:nvPr/>
        </p:nvSpPr>
        <p:spPr>
          <a:xfrm>
            <a:off x="5074920" y="32461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Dot 96"/>
          <p:cNvSpPr/>
          <p:nvPr/>
        </p:nvSpPr>
        <p:spPr>
          <a:xfrm>
            <a:off x="5193792" y="3447288"/>
            <a:ext cx="146304" cy="146304"/>
          </a:xfrm>
          <a:prstGeom prst="rect">
            <a:avLst/>
          </a:prstGeom>
          <a:solidFill>
            <a:srgbClr val="3D5E55"/>
          </a:solidFill>
          <a:ln w="12700">
            <a:solidFill>
              <a:srgbClr val="3D5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544068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Cleans photos</a:t>
            </a:r>
            <a:endParaRPr lang="en-US" sz="1300" dirty="0"/>
          </a:p>
        </p:txBody>
      </p:sp>
      <p:sp>
        <p:nvSpPr>
          <p:cNvPr id="29" name="Card 97"/>
          <p:cNvSpPr/>
          <p:nvPr/>
        </p:nvSpPr>
        <p:spPr>
          <a:xfrm>
            <a:off x="5074920" y="39319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Dot 98"/>
          <p:cNvSpPr/>
          <p:nvPr/>
        </p:nvSpPr>
        <p:spPr>
          <a:xfrm>
            <a:off x="5193792" y="4133088"/>
            <a:ext cx="146304" cy="146304"/>
          </a:xfrm>
          <a:prstGeom prst="rect">
            <a:avLst/>
          </a:prstGeom>
          <a:solidFill>
            <a:srgbClr val="3D5E55"/>
          </a:solidFill>
          <a:ln w="12700">
            <a:solidFill>
              <a:srgbClr val="3D5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544068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Double-checks Gemma</a:t>
            </a:r>
            <a:endParaRPr lang="en-US" sz="1300" dirty="0"/>
          </a:p>
        </p:txBody>
      </p:sp>
      <p:sp>
        <p:nvSpPr>
          <p:cNvPr id="32" name="Card 99"/>
          <p:cNvSpPr/>
          <p:nvPr/>
        </p:nvSpPr>
        <p:spPr>
          <a:xfrm>
            <a:off x="5074920" y="46177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Dot 100"/>
          <p:cNvSpPr/>
          <p:nvPr/>
        </p:nvSpPr>
        <p:spPr>
          <a:xfrm>
            <a:off x="5193792" y="4818888"/>
            <a:ext cx="146304" cy="146304"/>
          </a:xfrm>
          <a:prstGeom prst="rect">
            <a:avLst/>
          </a:prstGeom>
          <a:solidFill>
            <a:srgbClr val="3D5E55"/>
          </a:solidFill>
          <a:ln w="12700">
            <a:solidFill>
              <a:srgbClr val="3D5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5440680" y="4617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Barcode cache</a:t>
            </a:r>
            <a:endParaRPr lang="en-US" sz="1300" dirty="0"/>
          </a:p>
        </p:txBody>
      </p:sp>
      <p:sp>
        <p:nvSpPr>
          <p:cNvPr id="35" name="Card 101"/>
          <p:cNvSpPr/>
          <p:nvPr/>
        </p:nvSpPr>
        <p:spPr>
          <a:xfrm>
            <a:off x="5074920" y="53035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Dot 102"/>
          <p:cNvSpPr/>
          <p:nvPr/>
        </p:nvSpPr>
        <p:spPr>
          <a:xfrm>
            <a:off x="5193792" y="5504688"/>
            <a:ext cx="146304" cy="146304"/>
          </a:xfrm>
          <a:prstGeom prst="rect">
            <a:avLst/>
          </a:prstGeom>
          <a:solidFill>
            <a:srgbClr val="3D5E55"/>
          </a:solidFill>
          <a:ln w="12700">
            <a:solidFill>
              <a:srgbClr val="3D5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440680" y="5303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Encrypted relay</a:t>
            </a:r>
            <a:endParaRPr lang="en-US" sz="1300" dirty="0"/>
          </a:p>
        </p:txBody>
      </p:sp>
      <p:sp>
        <p:nvSpPr>
          <p:cNvPr id="38" name="Gemma box"/>
          <p:cNvSpPr/>
          <p:nvPr/>
        </p:nvSpPr>
        <p:spPr>
          <a:xfrm>
            <a:off x="8641080" y="219456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FE9FB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t_spark 103" descr="C:\Users\eng\AppData\Local\Temp\claude\G--Qaqya-Wiqaya\b4718729-0996-47fc-8e2c-a882c4cb9920\scratchpad\deck\img\t_sp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2395728"/>
            <a:ext cx="566928" cy="56692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555480" y="2377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Gemma 4</a:t>
            </a:r>
            <a:endParaRPr lang="en-US" sz="1800" dirty="0"/>
          </a:p>
        </p:txBody>
      </p:sp>
      <p:sp>
        <p:nvSpPr>
          <p:cNvPr id="41" name="Text 36"/>
          <p:cNvSpPr txBox="1"/>
          <p:nvPr/>
        </p:nvSpPr>
        <p:spPr>
          <a:xfrm>
            <a:off x="955548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E4B on Ollama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88696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JSON · temperature 0 · tools</a:t>
            </a:r>
            <a:endParaRPr lang="en-US" sz="1200" dirty="0"/>
          </a:p>
        </p:txBody>
      </p:sp>
      <p:sp>
        <p:nvSpPr>
          <p:cNvPr id="43" name="Open data box"/>
          <p:cNvSpPr/>
          <p:nvPr/>
        </p:nvSpPr>
        <p:spPr>
          <a:xfrm>
            <a:off x="8641080" y="43434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t_globe 104" descr="C:\Users\eng\AppData\Local\Temp\claude\G--Qaqya-Wiqaya\b4718729-0996-47fc-8e2c-a882c4cb9920\scratchpad\deck\img\t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4544568"/>
            <a:ext cx="566928" cy="566928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555480" y="4526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Open data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8869680" y="5303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Open Food Facts · web search</a:t>
            </a:r>
            <a:endParaRPr lang="en-US" sz="1200" dirty="0"/>
          </a:p>
        </p:txBody>
      </p:sp>
      <p:sp>
        <p:nvSpPr>
          <p:cNvPr id="47" name="Link 105"/>
          <p:cNvSpPr/>
          <p:nvPr/>
        </p:nvSpPr>
        <p:spPr>
          <a:xfrm>
            <a:off x="4206240" y="3611880"/>
            <a:ext cx="594360" cy="0"/>
          </a:xfrm>
          <a:prstGeom prst="line">
            <a:avLst/>
          </a:prstGeom>
          <a:noFill/>
          <a:ln w="25400">
            <a:solidFill>
              <a:srgbClr val="1F3A3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 txBox="1"/>
          <p:nvPr/>
        </p:nvSpPr>
        <p:spPr>
          <a:xfrm>
            <a:off x="3977640" y="32826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photo</a:t>
            </a:r>
            <a:endParaRPr lang="en-US" sz="1100" dirty="0"/>
          </a:p>
        </p:txBody>
      </p:sp>
      <p:sp>
        <p:nvSpPr>
          <p:cNvPr id="49" name="Link 106"/>
          <p:cNvSpPr/>
          <p:nvPr/>
        </p:nvSpPr>
        <p:spPr>
          <a:xfrm>
            <a:off x="4206240" y="4617720"/>
            <a:ext cx="594360" cy="0"/>
          </a:xfrm>
          <a:prstGeom prst="line">
            <a:avLst/>
          </a:prstGeom>
          <a:noFill/>
          <a:ln w="25400">
            <a:solidFill>
              <a:srgbClr val="1F3A3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 txBox="1"/>
          <p:nvPr/>
        </p:nvSpPr>
        <p:spPr>
          <a:xfrm>
            <a:off x="3977640" y="42885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JSON</a:t>
            </a:r>
            <a:endParaRPr lang="en-US" sz="1100" dirty="0"/>
          </a:p>
        </p:txBody>
      </p:sp>
      <p:sp>
        <p:nvSpPr>
          <p:cNvPr id="51" name="Back arrow"/>
          <p:cNvSpPr/>
          <p:nvPr/>
        </p:nvSpPr>
        <p:spPr>
          <a:xfrm>
            <a:off x="4206240" y="4617720"/>
            <a:ext cx="594360" cy="0"/>
          </a:xfrm>
          <a:prstGeom prst="line">
            <a:avLst/>
          </a:prstGeom>
          <a:noFill/>
          <a:ln w="25400">
            <a:solidFill>
              <a:srgbClr val="1F3A35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Link 107"/>
          <p:cNvSpPr/>
          <p:nvPr/>
        </p:nvSpPr>
        <p:spPr>
          <a:xfrm>
            <a:off x="4206240" y="5623560"/>
            <a:ext cx="594360" cy="0"/>
          </a:xfrm>
          <a:prstGeom prst="line">
            <a:avLst/>
          </a:prstGeom>
          <a:noFill/>
          <a:ln w="25400">
            <a:solidFill>
              <a:srgbClr val="1F3A3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 txBox="1"/>
          <p:nvPr/>
        </p:nvSpPr>
        <p:spPr>
          <a:xfrm>
            <a:off x="3977640" y="52943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E2E</a:t>
            </a:r>
            <a:endParaRPr lang="en-US" sz="1100" dirty="0"/>
          </a:p>
        </p:txBody>
      </p:sp>
      <p:sp>
        <p:nvSpPr>
          <p:cNvPr id="54" name="Link 108"/>
          <p:cNvSpPr/>
          <p:nvPr/>
        </p:nvSpPr>
        <p:spPr>
          <a:xfrm>
            <a:off x="8001000" y="3108960"/>
            <a:ext cx="594360" cy="0"/>
          </a:xfrm>
          <a:prstGeom prst="line">
            <a:avLst/>
          </a:prstGeom>
          <a:noFill/>
          <a:ln w="25400">
            <a:solidFill>
              <a:srgbClr val="1F3A3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 txBox="1"/>
          <p:nvPr/>
        </p:nvSpPr>
        <p:spPr>
          <a:xfrm>
            <a:off x="7772400" y="27797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photo</a:t>
            </a:r>
            <a:endParaRPr lang="en-US" sz="1100" dirty="0"/>
          </a:p>
        </p:txBody>
      </p:sp>
      <p:sp>
        <p:nvSpPr>
          <p:cNvPr id="56" name="Link 109"/>
          <p:cNvSpPr/>
          <p:nvPr/>
        </p:nvSpPr>
        <p:spPr>
          <a:xfrm>
            <a:off x="8001000" y="5257800"/>
            <a:ext cx="594360" cy="0"/>
          </a:xfrm>
          <a:prstGeom prst="line">
            <a:avLst/>
          </a:prstGeom>
          <a:noFill/>
          <a:ln w="25400">
            <a:solidFill>
              <a:srgbClr val="1F3A3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 txBox="1"/>
          <p:nvPr/>
        </p:nvSpPr>
        <p:spPr>
          <a:xfrm>
            <a:off x="7772400" y="49286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barcode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77724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 names. No allergies. Never.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xel 110"/>
          <p:cNvSpPr/>
          <p:nvPr/>
        </p:nvSpPr>
        <p:spPr>
          <a:xfrm>
            <a:off x="914400" y="1243584"/>
            <a:ext cx="155448" cy="155448"/>
          </a:xfrm>
          <a:prstGeom prst="rect">
            <a:avLst/>
          </a:prstGeom>
          <a:solidFill>
            <a:srgbClr val="F5B829"/>
          </a:solidFill>
          <a:ln w="12700">
            <a:solidFill>
              <a:srgbClr val="F5B8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ixel 111"/>
          <p:cNvSpPr/>
          <p:nvPr/>
        </p:nvSpPr>
        <p:spPr>
          <a:xfrm>
            <a:off x="1069848" y="1399032"/>
            <a:ext cx="155448" cy="155448"/>
          </a:xfrm>
          <a:prstGeom prst="rect">
            <a:avLst/>
          </a:prstGeom>
          <a:solidFill>
            <a:srgbClr val="E87C76"/>
          </a:solidFill>
          <a:ln w="12700">
            <a:solidFill>
              <a:srgbClr val="E87C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ixel 112"/>
          <p:cNvSpPr/>
          <p:nvPr/>
        </p:nvSpPr>
        <p:spPr>
          <a:xfrm>
            <a:off x="1225296" y="1554480"/>
            <a:ext cx="155448" cy="155448"/>
          </a:xfrm>
          <a:prstGeom prst="rect">
            <a:avLst/>
          </a:prstGeom>
          <a:solidFill>
            <a:srgbClr val="6F9BD6"/>
          </a:solidFill>
          <a:ln w="12700">
            <a:solidFill>
              <a:srgbClr val="6F9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1554480" y="1097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Gemma reads, code decides</a:t>
            </a:r>
            <a:endParaRPr lang="en-US" sz="3600" dirty="0"/>
          </a:p>
        </p:txBody>
      </p:sp>
      <p:sp>
        <p:nvSpPr>
          <p:cNvPr id="6" name="Card 113"/>
          <p:cNvSpPr/>
          <p:nvPr/>
        </p:nvSpPr>
        <p:spPr>
          <a:xfrm>
            <a:off x="1188720" y="2194560"/>
            <a:ext cx="3063240" cy="1600200"/>
          </a:xfrm>
          <a:prstGeom prst="rect">
            <a:avLst/>
          </a:prstGeom>
          <a:solidFill>
            <a:srgbClr val="F8F8F4"/>
          </a:solidFill>
          <a:ln w="12700">
            <a:solidFill>
              <a:srgbClr val="F8F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46304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16A3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false greens</a:t>
            </a:r>
            <a:endParaRPr lang="en-US" sz="1600" dirty="0"/>
          </a:p>
        </p:txBody>
      </p:sp>
      <p:sp>
        <p:nvSpPr>
          <p:cNvPr id="9" name="Card 114"/>
          <p:cNvSpPr/>
          <p:nvPr/>
        </p:nvSpPr>
        <p:spPr>
          <a:xfrm>
            <a:off x="4526280" y="2194560"/>
            <a:ext cx="3063240" cy="1600200"/>
          </a:xfrm>
          <a:prstGeom prst="rect">
            <a:avLst/>
          </a:prstGeom>
          <a:solidFill>
            <a:srgbClr val="F8F8F4"/>
          </a:solidFill>
          <a:ln w="12700">
            <a:solidFill>
              <a:srgbClr val="F8F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0060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78/78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allergens caught</a:t>
            </a:r>
            <a:endParaRPr lang="en-US" sz="1600" dirty="0"/>
          </a:p>
        </p:txBody>
      </p:sp>
      <p:sp>
        <p:nvSpPr>
          <p:cNvPr id="12" name="Card 115"/>
          <p:cNvSpPr/>
          <p:nvPr/>
        </p:nvSpPr>
        <p:spPr>
          <a:xfrm>
            <a:off x="7863840" y="2194560"/>
            <a:ext cx="3063240" cy="1600200"/>
          </a:xfrm>
          <a:prstGeom prst="rect">
            <a:avLst/>
          </a:prstGeom>
          <a:solidFill>
            <a:srgbClr val="F8F8F4"/>
          </a:solidFill>
          <a:ln w="12700">
            <a:solidFill>
              <a:srgbClr val="F8F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13816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E8432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24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3A3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real shop photos</a:t>
            </a:r>
            <a:endParaRPr lang="en-US" sz="1600" dirty="0"/>
          </a:p>
        </p:txBody>
      </p:sp>
      <p:pic>
        <p:nvPicPr>
          <p:cNvPr id="15" name="t_nocam 116" descr="C:\Users\eng\AppData\Local\Temp\claude\G--Qaqya-Wiqaya\b4718729-0996-47fc-8e2c-a882c4cb9920\scratchpad\deck\img\t_no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160520"/>
            <a:ext cx="685800" cy="6858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205740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 never sees a child</a:t>
            </a:r>
            <a:endParaRPr lang="en-US" sz="1600" dirty="0"/>
          </a:p>
        </p:txBody>
      </p:sp>
      <p:pic>
        <p:nvPicPr>
          <p:cNvPr id="17" name="t_lock 117" descr="C:\Users\eng\AppData\Local\Temp\claude\G--Qaqya-Wiqaya\b4718729-0996-47fc-8e2c-a882c4cb9920\scratchpad\deck\img\t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160520"/>
            <a:ext cx="685800" cy="6858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9496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Encrypted on the phone</a:t>
            </a:r>
            <a:endParaRPr lang="en-US" sz="1600" dirty="0"/>
          </a:p>
        </p:txBody>
      </p:sp>
      <p:pic>
        <p:nvPicPr>
          <p:cNvPr id="19" name="t_message 118" descr="C:\Users\eng\AppData\Local\Temp\claude\G--Qaqya-Wiqaya\b4718729-0996-47fc-8e2c-a882c4cb9920\scratchpad\deck\img\t_mes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160520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252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End-to-end family chat</a:t>
            </a:r>
            <a:endParaRPr lang="en-US" sz="1600" dirty="0"/>
          </a:p>
        </p:txBody>
      </p:sp>
      <p:pic>
        <p:nvPicPr>
          <p:cNvPr id="21" name="t_userx 119" descr="C:\Users\eng\AppData\Local\Temp\claude\G--Qaqya-Wiqaya\b4718729-0996-47fc-8e2c-a882c4cb9920\scratchpad\deck\img\t_user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5166360"/>
            <a:ext cx="685800" cy="6858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057400" y="5166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 accounts</a:t>
            </a:r>
            <a:endParaRPr lang="en-US" sz="1600" dirty="0"/>
          </a:p>
        </p:txBody>
      </p:sp>
      <p:pic>
        <p:nvPicPr>
          <p:cNvPr id="23" name="t_ban 120" descr="C:\Users\eng\AppData\Local\Temp\claude\G--Qaqya-Wiqaya\b4718729-0996-47fc-8e2c-a882c4cb9920\scratchpad\deck\img\t_b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5166360"/>
            <a:ext cx="685800" cy="6858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94960" y="5166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Red can't be overridden</a:t>
            </a:r>
            <a:endParaRPr lang="en-US" sz="1600" dirty="0"/>
          </a:p>
        </p:txBody>
      </p:sp>
      <p:pic>
        <p:nvPicPr>
          <p:cNvPr id="25" name="t_alert 121" descr="C:\Users\eng\AppData\Local\Temp\claude\G--Qaqya-Wiqaya\b4718729-0996-47fc-8e2c-a882c4cb9920\scratchpad\deck\img\t_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5166360"/>
            <a:ext cx="685800" cy="6858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732520" y="5166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Doubt is never green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71600" y="320040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4480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Questions &amp; Answers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github.com/MasriAm/Wiqaya</a:t>
            </a:r>
            <a:endParaRPr lang="en-US" sz="2200" dirty="0"/>
          </a:p>
        </p:txBody>
      </p:sp>
      <p:sp>
        <p:nvSpPr>
          <p:cNvPr id="5" name="Card 122"/>
          <p:cNvSpPr/>
          <p:nvPr/>
        </p:nvSpPr>
        <p:spPr>
          <a:xfrm>
            <a:off x="8641080" y="2743200"/>
            <a:ext cx="26060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QR code to github.com/MasriAm/Wiqaya 123" descr="QR code to github.com/MasriAm/Wiqa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926080"/>
            <a:ext cx="2148840" cy="2148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41080" y="5230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3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for the code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891</Words>
  <Application>Microsoft Office PowerPoint</Application>
  <PresentationFormat>Widescreen</PresentationFormat>
  <Paragraphs>107</Paragraphs>
  <Slides>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Wiqaya · وقاية</dc:title>
  <dc:subject>PptxGenJS Presentation</dc:subject>
  <dc:creator>Team Wiqaya</dc:creator>
  <cp:lastModifiedBy>eng</cp:lastModifiedBy>
  <cp:revision>5</cp:revision>
  <dcterms:created xsi:type="dcterms:W3CDTF">2026-10-24T14:47:11Z</dcterms:created>
  <dcterms:modified xsi:type="dcterms:W3CDTF">2026-10-24T17:00:59Z</dcterms:modified>
</cp:coreProperties>
</file>